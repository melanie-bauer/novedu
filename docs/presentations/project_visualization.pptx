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D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4EE06E-A019-B50D-061F-E5DF17FE5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D3F3E9-5A5A-5291-616D-54A0667C5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AACA02-AC95-237D-80C0-9B048227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6EFC2E-9067-58BC-9976-036DB25B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35B4E2-A629-048A-A985-92A01087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05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559A3F-49BA-8A37-D3F8-85F973EA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578B7C-03AE-2E89-3ADA-DE505BB18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B446BB-64B5-9246-3A58-055FFD5EC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19D783-AC4F-7930-9321-07C25494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41E47D-3E2A-3061-5923-87F911CD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D5B912-68F5-0683-DDF1-303B7D35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11E26D-12B5-101C-B373-B825C8D2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687CC8-056A-129F-04ED-41FFBCF0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B7D7D1-9019-6CB8-FA86-183109BAF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E2C763-F6DF-D7A0-EADE-3B93AA667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5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754012-0786-6577-C56D-F483D845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4C9F74-1860-388C-C768-A8835BA17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356415-9D3C-127E-54AC-5771CDB8A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7B1B91-D3E5-3577-3073-4DC83F3A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C37F5B-3766-1479-8B5D-66499A36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E93493-AA27-11E9-D894-2A535648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2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661CD-33C3-6DFE-E003-B22A7C77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AFFCC5-815D-D789-6BF2-4240C8891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66E0DD-A123-45E4-A2D7-5E5E59975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85406F-ACB5-77CD-E6E1-A97BD374E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5B9750A-B0F4-C6F2-ADB2-0127C6579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023AFAB-11F8-B82A-5C0A-34F5F67D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CCFC05-A045-1A8B-8F28-1517FFDE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3CD80F0-3098-3EBE-69CE-81406C5E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6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A3C52-F927-03E1-78EC-8C0DD14D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6790C6-D38D-1D0F-FF4F-E57F1405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557779-27CC-BEB7-E032-9554E63C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3A482D-FADC-483B-DD25-323D3A16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6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A7D328-5E06-243F-BDD7-1375161E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45EFF2-FA13-AE66-BB1A-A05EF49D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78BF74-7F89-A326-9685-36042938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88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6431F-02A3-C9A7-4E1C-73F3829F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BAC37-485A-329B-02F1-58275FE9B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768FAE-8F59-6873-FEAB-D07C0BC3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F48D4B-2C59-2B4C-0295-D7F2C267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8DC533-17F5-0483-F608-51C09E7F9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9C9D49-3A35-6823-ED25-21317EED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0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2055E-193D-8CC9-8951-8EE54EB7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7E6F9-06AF-03A4-A70C-62B150B47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F50EE-575D-1A12-2393-E8C6A9196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1B7581-AB24-AEA8-8D21-41226DF3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DD9ABA-D36C-B815-D829-C8B83E9EC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439122-E88A-1D0F-A20E-EE02A01C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4A4B2-C234-914B-3F5D-AF2DD21F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112160-BC10-1C5D-5990-D0A06B9CB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94A154-4B74-FF10-CBE6-3AABE9A8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BA09C6-A2BB-0839-DFA7-3DF0293A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5B22C2-D305-EB9B-7331-B657C9DF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9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5840B1-FD0B-0D59-7C55-043346E24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C2B8F1-F836-F4DA-AE00-0E801342D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8F549F-BF75-11FA-D5FD-6541A37D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21D272-70E7-EA43-86CE-8A3C6B27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758038-638D-5CAD-E475-44D985A7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4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38392E2-1263-B516-1FE0-F5B0D2A9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FD11AD-AE1F-7A57-34DD-153B55758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DE8B08-7090-4007-617F-24E6CE018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090BA-759E-48E1-939B-526C659E5B5A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9F96AC-ACF1-9DDF-84C7-E60FFF270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58D079-3AA1-0216-B584-B44967C06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9987E-C1A7-43A7-85F5-44B36F73E27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4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18814-C243-EB9D-DED7-B51B206AF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err="1"/>
              <a:t>Novedu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502C90-8E9B-263D-884D-BEC69B349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Projektunterlagen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83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C48A1D5-9DBA-347D-F19C-2AF5CB17FD33}"/>
              </a:ext>
            </a:extLst>
          </p:cNvPr>
          <p:cNvSpPr/>
          <p:nvPr/>
        </p:nvSpPr>
        <p:spPr>
          <a:xfrm>
            <a:off x="339363" y="296939"/>
            <a:ext cx="3421929" cy="14489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dirty="0"/>
              <a:t>KI-Tools waren für Schulen meist </a:t>
            </a:r>
            <a:r>
              <a:rPr lang="de-DE" sz="2200" b="1" dirty="0"/>
              <a:t>nicht DSGVO-konform</a:t>
            </a:r>
            <a:r>
              <a:rPr lang="de-DE" sz="2200" dirty="0"/>
              <a:t>, teuer und unkontrollierbar</a:t>
            </a:r>
            <a:endParaRPr lang="en-US" sz="2200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8B2D54C-FE00-5E99-B4B1-BF212905484F}"/>
              </a:ext>
            </a:extLst>
          </p:cNvPr>
          <p:cNvSpPr/>
          <p:nvPr/>
        </p:nvSpPr>
        <p:spPr>
          <a:xfrm>
            <a:off x="4100659" y="1517322"/>
            <a:ext cx="3676453" cy="122744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b="1" dirty="0" err="1"/>
              <a:t>Novedu</a:t>
            </a:r>
            <a:r>
              <a:rPr lang="de-DE" sz="2200" dirty="0"/>
              <a:t> = europäische, sichere </a:t>
            </a:r>
            <a:r>
              <a:rPr lang="de-DE" sz="2200" b="1" dirty="0"/>
              <a:t>KI-Lernplattform für Schulen</a:t>
            </a:r>
            <a:endParaRPr lang="en-US" sz="2200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DFDBE07-E5BF-B103-92B1-35104F2041F4}"/>
              </a:ext>
            </a:extLst>
          </p:cNvPr>
          <p:cNvSpPr/>
          <p:nvPr/>
        </p:nvSpPr>
        <p:spPr>
          <a:xfrm>
            <a:off x="8097625" y="2622224"/>
            <a:ext cx="3761293" cy="137945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b="1" dirty="0"/>
              <a:t>Lehrkräfte:</a:t>
            </a:r>
            <a:r>
              <a:rPr lang="de-DE" sz="2200" dirty="0"/>
              <a:t> erstellen &amp; steuern eigene </a:t>
            </a:r>
            <a:r>
              <a:rPr lang="de-DE" sz="2200" b="1" dirty="0"/>
              <a:t>KI-Tutoren </a:t>
            </a:r>
            <a:r>
              <a:rPr lang="de-DE" sz="2200" dirty="0"/>
              <a:t>mit eigenem Lernmaterial</a:t>
            </a:r>
            <a:endParaRPr lang="en-US" sz="2200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E82BB40-4227-851B-CAC1-12BA01A55213}"/>
              </a:ext>
            </a:extLst>
          </p:cNvPr>
          <p:cNvSpPr/>
          <p:nvPr/>
        </p:nvSpPr>
        <p:spPr>
          <a:xfrm>
            <a:off x="7308915" y="4631704"/>
            <a:ext cx="3176830" cy="13794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b="1" dirty="0" err="1">
                <a:solidFill>
                  <a:schemeClr val="tx1"/>
                </a:solidFill>
              </a:rPr>
              <a:t>Schüler:innen</a:t>
            </a:r>
            <a:r>
              <a:rPr lang="de-DE" sz="2200" b="1" dirty="0">
                <a:solidFill>
                  <a:schemeClr val="tx1"/>
                </a:solidFill>
              </a:rPr>
              <a:t>:</a:t>
            </a:r>
            <a:r>
              <a:rPr lang="de-DE" sz="2200" dirty="0">
                <a:solidFill>
                  <a:schemeClr val="tx1"/>
                </a:solidFill>
              </a:rPr>
              <a:t> lernen mit KI (aktuell Mathe, Deutsch &amp; Englisch)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C1AAB7B6-28DE-3934-6E0E-267DA63B3440}"/>
              </a:ext>
            </a:extLst>
          </p:cNvPr>
          <p:cNvSpPr/>
          <p:nvPr/>
        </p:nvSpPr>
        <p:spPr>
          <a:xfrm>
            <a:off x="3569615" y="5253873"/>
            <a:ext cx="3176830" cy="1307188"/>
          </a:xfrm>
          <a:prstGeom prst="roundRect">
            <a:avLst/>
          </a:prstGeom>
          <a:solidFill>
            <a:srgbClr val="F4ED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b="1" dirty="0">
                <a:solidFill>
                  <a:schemeClr val="tx1"/>
                </a:solidFill>
              </a:rPr>
              <a:t>Schule/IT:</a:t>
            </a:r>
            <a:r>
              <a:rPr lang="de-DE" sz="2200" dirty="0">
                <a:solidFill>
                  <a:schemeClr val="tx1"/>
                </a:solidFill>
              </a:rPr>
              <a:t> volle </a:t>
            </a:r>
            <a:r>
              <a:rPr lang="de-DE" sz="2200" b="1" dirty="0">
                <a:solidFill>
                  <a:schemeClr val="tx1"/>
                </a:solidFill>
              </a:rPr>
              <a:t>Kosten-, Nutzungs- &amp; Datenschutzkontrolle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133219F-372D-B236-81B0-A009DDACE4C2}"/>
              </a:ext>
            </a:extLst>
          </p:cNvPr>
          <p:cNvSpPr/>
          <p:nvPr/>
        </p:nvSpPr>
        <p:spPr>
          <a:xfrm>
            <a:off x="227815" y="4004825"/>
            <a:ext cx="3176830" cy="1379458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b="1" dirty="0">
                <a:solidFill>
                  <a:schemeClr val="tx1"/>
                </a:solidFill>
              </a:rPr>
              <a:t>Technik:</a:t>
            </a:r>
            <a:r>
              <a:rPr lang="de-DE" sz="2200" dirty="0">
                <a:solidFill>
                  <a:schemeClr val="tx1"/>
                </a:solidFill>
              </a:rPr>
              <a:t> Open Source, EU-Server, mehrere KI-Modelle integrierbar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A6CFCB2F-6AB1-4432-97A4-E639DAE33C3E}"/>
              </a:ext>
            </a:extLst>
          </p:cNvPr>
          <p:cNvSpPr/>
          <p:nvPr/>
        </p:nvSpPr>
        <p:spPr>
          <a:xfrm>
            <a:off x="2458141" y="1747520"/>
            <a:ext cx="1641419" cy="731036"/>
          </a:xfrm>
          <a:custGeom>
            <a:avLst/>
            <a:gdLst>
              <a:gd name="csX0" fmla="*/ 579 w 1641419"/>
              <a:gd name="csY0" fmla="*/ 0 h 731036"/>
              <a:gd name="csX1" fmla="*/ 107259 w 1641419"/>
              <a:gd name="csY1" fmla="*/ 462280 h 731036"/>
              <a:gd name="csX2" fmla="*/ 666059 w 1641419"/>
              <a:gd name="csY2" fmla="*/ 726440 h 731036"/>
              <a:gd name="csX3" fmla="*/ 1174059 w 1641419"/>
              <a:gd name="csY3" fmla="*/ 248920 h 731036"/>
              <a:gd name="csX4" fmla="*/ 1641419 w 1641419"/>
              <a:gd name="csY4" fmla="*/ 284480 h 7310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41419" h="731036">
                <a:moveTo>
                  <a:pt x="579" y="0"/>
                </a:moveTo>
                <a:cubicBezTo>
                  <a:pt x="-1538" y="170603"/>
                  <a:pt x="-3654" y="341207"/>
                  <a:pt x="107259" y="462280"/>
                </a:cubicBezTo>
                <a:cubicBezTo>
                  <a:pt x="218172" y="583353"/>
                  <a:pt x="488259" y="762000"/>
                  <a:pt x="666059" y="726440"/>
                </a:cubicBezTo>
                <a:cubicBezTo>
                  <a:pt x="843859" y="690880"/>
                  <a:pt x="1011499" y="322580"/>
                  <a:pt x="1174059" y="248920"/>
                </a:cubicBezTo>
                <a:cubicBezTo>
                  <a:pt x="1336619" y="175260"/>
                  <a:pt x="1560139" y="270087"/>
                  <a:pt x="1641419" y="2844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124868A6-F5EE-6387-8201-E2CDB53ADFCE}"/>
              </a:ext>
            </a:extLst>
          </p:cNvPr>
          <p:cNvSpPr/>
          <p:nvPr/>
        </p:nvSpPr>
        <p:spPr>
          <a:xfrm>
            <a:off x="7774305" y="1555064"/>
            <a:ext cx="2655570" cy="1058596"/>
          </a:xfrm>
          <a:custGeom>
            <a:avLst/>
            <a:gdLst>
              <a:gd name="csX0" fmla="*/ 0 w 2655570"/>
              <a:gd name="csY0" fmla="*/ 538531 h 1058596"/>
              <a:gd name="csX1" fmla="*/ 1154430 w 2655570"/>
              <a:gd name="csY1" fmla="*/ 1321 h 1058596"/>
              <a:gd name="csX2" fmla="*/ 1937385 w 2655570"/>
              <a:gd name="csY2" fmla="*/ 384226 h 1058596"/>
              <a:gd name="csX3" fmla="*/ 2510790 w 2655570"/>
              <a:gd name="csY3" fmla="*/ 308026 h 1058596"/>
              <a:gd name="csX4" fmla="*/ 2655570 w 2655570"/>
              <a:gd name="csY4" fmla="*/ 1058596 h 1058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55570" h="1058596">
                <a:moveTo>
                  <a:pt x="0" y="538531"/>
                </a:moveTo>
                <a:cubicBezTo>
                  <a:pt x="415766" y="282784"/>
                  <a:pt x="831533" y="27038"/>
                  <a:pt x="1154430" y="1321"/>
                </a:cubicBezTo>
                <a:cubicBezTo>
                  <a:pt x="1477327" y="-24396"/>
                  <a:pt x="1711325" y="333108"/>
                  <a:pt x="1937385" y="384226"/>
                </a:cubicBezTo>
                <a:cubicBezTo>
                  <a:pt x="2163445" y="435343"/>
                  <a:pt x="2391093" y="195631"/>
                  <a:pt x="2510790" y="308026"/>
                </a:cubicBezTo>
                <a:cubicBezTo>
                  <a:pt x="2630488" y="420421"/>
                  <a:pt x="2635568" y="933184"/>
                  <a:pt x="2655570" y="105859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ihandform: Form 23">
            <a:extLst>
              <a:ext uri="{FF2B5EF4-FFF2-40B4-BE49-F238E27FC236}">
                <a16:creationId xmlns:a16="http://schemas.microsoft.com/office/drawing/2014/main" id="{93E870CF-8BB9-4E66-AED7-DD3100C03046}"/>
              </a:ext>
            </a:extLst>
          </p:cNvPr>
          <p:cNvSpPr/>
          <p:nvPr/>
        </p:nvSpPr>
        <p:spPr>
          <a:xfrm>
            <a:off x="10490200" y="4000500"/>
            <a:ext cx="1568008" cy="1661160"/>
          </a:xfrm>
          <a:custGeom>
            <a:avLst/>
            <a:gdLst>
              <a:gd name="csX0" fmla="*/ 774700 w 1568008"/>
              <a:gd name="csY0" fmla="*/ 0 h 1661160"/>
              <a:gd name="csX1" fmla="*/ 850900 w 1568008"/>
              <a:gd name="csY1" fmla="*/ 741680 h 1661160"/>
              <a:gd name="csX2" fmla="*/ 1549400 w 1568008"/>
              <a:gd name="csY2" fmla="*/ 1275080 h 1661160"/>
              <a:gd name="csX3" fmla="*/ 0 w 1568008"/>
              <a:gd name="csY3" fmla="*/ 1661160 h 1661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68008" h="1661160">
                <a:moveTo>
                  <a:pt x="774700" y="0"/>
                </a:moveTo>
                <a:cubicBezTo>
                  <a:pt x="748241" y="264583"/>
                  <a:pt x="721783" y="529167"/>
                  <a:pt x="850900" y="741680"/>
                </a:cubicBezTo>
                <a:cubicBezTo>
                  <a:pt x="980017" y="954193"/>
                  <a:pt x="1691217" y="1121833"/>
                  <a:pt x="1549400" y="1275080"/>
                </a:cubicBezTo>
                <a:cubicBezTo>
                  <a:pt x="1407583" y="1428327"/>
                  <a:pt x="238337" y="1624330"/>
                  <a:pt x="0" y="166116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F15226D5-28D9-EAC5-22CB-7BB79CB59798}"/>
              </a:ext>
            </a:extLst>
          </p:cNvPr>
          <p:cNvSpPr/>
          <p:nvPr/>
        </p:nvSpPr>
        <p:spPr>
          <a:xfrm>
            <a:off x="6756400" y="4966887"/>
            <a:ext cx="543560" cy="1188295"/>
          </a:xfrm>
          <a:custGeom>
            <a:avLst/>
            <a:gdLst>
              <a:gd name="csX0" fmla="*/ 543560 w 543560"/>
              <a:gd name="csY0" fmla="*/ 21673 h 1188295"/>
              <a:gd name="csX1" fmla="*/ 289560 w 543560"/>
              <a:gd name="csY1" fmla="*/ 130893 h 1188295"/>
              <a:gd name="csX2" fmla="*/ 299720 w 543560"/>
              <a:gd name="csY2" fmla="*/ 1017353 h 1188295"/>
              <a:gd name="csX3" fmla="*/ 0 w 543560"/>
              <a:gd name="csY3" fmla="*/ 1187533 h 11882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3560" h="1188295">
                <a:moveTo>
                  <a:pt x="543560" y="21673"/>
                </a:moveTo>
                <a:cubicBezTo>
                  <a:pt x="436880" y="-6691"/>
                  <a:pt x="330200" y="-35054"/>
                  <a:pt x="289560" y="130893"/>
                </a:cubicBezTo>
                <a:cubicBezTo>
                  <a:pt x="248920" y="296840"/>
                  <a:pt x="347980" y="841247"/>
                  <a:pt x="299720" y="1017353"/>
                </a:cubicBezTo>
                <a:cubicBezTo>
                  <a:pt x="251460" y="1193459"/>
                  <a:pt x="125730" y="1190496"/>
                  <a:pt x="0" y="118753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4A82A9F-DEB7-8005-D62E-64FFA1C921D8}"/>
              </a:ext>
            </a:extLst>
          </p:cNvPr>
          <p:cNvSpPr txBox="1"/>
          <p:nvPr/>
        </p:nvSpPr>
        <p:spPr>
          <a:xfrm>
            <a:off x="5976857" y="148820"/>
            <a:ext cx="60279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3000" b="1" dirty="0"/>
              <a:t>Wie hängt denn alles zusammen?</a:t>
            </a:r>
            <a:endParaRPr lang="en-US" sz="3000" b="1" dirty="0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81E0E99E-1F50-690F-E937-769FCBE891C0}"/>
              </a:ext>
            </a:extLst>
          </p:cNvPr>
          <p:cNvSpPr/>
          <p:nvPr/>
        </p:nvSpPr>
        <p:spPr>
          <a:xfrm>
            <a:off x="779780" y="5389880"/>
            <a:ext cx="2783840" cy="862384"/>
          </a:xfrm>
          <a:custGeom>
            <a:avLst/>
            <a:gdLst>
              <a:gd name="csX0" fmla="*/ 2783840 w 2783840"/>
              <a:gd name="csY0" fmla="*/ 624840 h 862384"/>
              <a:gd name="csX1" fmla="*/ 1727200 w 2783840"/>
              <a:gd name="csY1" fmla="*/ 861060 h 862384"/>
              <a:gd name="csX2" fmla="*/ 906780 w 2783840"/>
              <a:gd name="csY2" fmla="*/ 530860 h 862384"/>
              <a:gd name="csX3" fmla="*/ 170180 w 2783840"/>
              <a:gd name="csY3" fmla="*/ 411480 h 862384"/>
              <a:gd name="csX4" fmla="*/ 0 w 2783840"/>
              <a:gd name="csY4" fmla="*/ 0 h 8623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83840" h="862384">
                <a:moveTo>
                  <a:pt x="2783840" y="624840"/>
                </a:moveTo>
                <a:cubicBezTo>
                  <a:pt x="2411941" y="750781"/>
                  <a:pt x="2040043" y="876723"/>
                  <a:pt x="1727200" y="861060"/>
                </a:cubicBezTo>
                <a:cubicBezTo>
                  <a:pt x="1414357" y="845397"/>
                  <a:pt x="1166283" y="605790"/>
                  <a:pt x="906780" y="530860"/>
                </a:cubicBezTo>
                <a:cubicBezTo>
                  <a:pt x="647277" y="455930"/>
                  <a:pt x="321310" y="499957"/>
                  <a:pt x="170180" y="411480"/>
                </a:cubicBezTo>
                <a:cubicBezTo>
                  <a:pt x="19050" y="323003"/>
                  <a:pt x="9525" y="161501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3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20" grpId="0" animBg="1"/>
      <p:bldP spid="21" grpId="0" animBg="1"/>
      <p:bldP spid="24" grpId="0" animBg="1"/>
      <p:bldP spid="25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CB01-5613-15D5-9272-56E608BA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54840C-4D8A-7D01-04E8-CE3CB73B4C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u="sng" dirty="0"/>
              <a:t>Tech-Stack</a:t>
            </a:r>
            <a:endParaRPr lang="en-US" u="sng" dirty="0"/>
          </a:p>
        </p:txBody>
      </p:sp>
      <p:pic>
        <p:nvPicPr>
          <p:cNvPr id="2050" name="Picture 2" descr="open-webui in png format (dark theme)">
            <a:extLst>
              <a:ext uri="{FF2B5EF4-FFF2-40B4-BE49-F238E27FC236}">
                <a16:creationId xmlns:a16="http://schemas.microsoft.com/office/drawing/2014/main" id="{44E1371C-2DEF-7C4B-56E2-DA54EDA16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700" y="3016923"/>
            <a:ext cx="1417320" cy="14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teLLM's logos">
            <a:extLst>
              <a:ext uri="{FF2B5EF4-FFF2-40B4-BE49-F238E27FC236}">
                <a16:creationId xmlns:a16="http://schemas.microsoft.com/office/drawing/2014/main" id="{C23E2CE0-CF35-A124-3C35-A8AC2D1C6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085" y="0"/>
            <a:ext cx="1646343" cy="164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ree OpenAI Logo Icon">
            <a:extLst>
              <a:ext uri="{FF2B5EF4-FFF2-40B4-BE49-F238E27FC236}">
                <a16:creationId xmlns:a16="http://schemas.microsoft.com/office/drawing/2014/main" id="{9CB6C1BE-7EC4-CED3-C3D2-00A1493DEE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17" b="35643"/>
          <a:stretch>
            <a:fillRect/>
          </a:stretch>
        </p:blipFill>
        <p:spPr bwMode="auto">
          <a:xfrm>
            <a:off x="4665162" y="3923230"/>
            <a:ext cx="3033379" cy="8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loud computing, Microsoft Azure, cloud services, technology solutions, Azure Logo PNG">
            <a:extLst>
              <a:ext uri="{FF2B5EF4-FFF2-40B4-BE49-F238E27FC236}">
                <a16:creationId xmlns:a16="http://schemas.microsoft.com/office/drawing/2014/main" id="{D25EB7E6-235F-F175-7A90-55E38936D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2" y="130118"/>
            <a:ext cx="3583482" cy="238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D01E5F8-2F47-7121-4B43-F9887D42A4B8}"/>
              </a:ext>
            </a:extLst>
          </p:cNvPr>
          <p:cNvSpPr txBox="1"/>
          <p:nvPr/>
        </p:nvSpPr>
        <p:spPr>
          <a:xfrm>
            <a:off x="7758877" y="1604709"/>
            <a:ext cx="126675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dirty="0" err="1"/>
              <a:t>LiteLLM</a:t>
            </a:r>
            <a:endParaRPr lang="en-US" sz="25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2AAB174-931B-2209-CFFF-F17E78EF194E}"/>
              </a:ext>
            </a:extLst>
          </p:cNvPr>
          <p:cNvSpPr txBox="1"/>
          <p:nvPr/>
        </p:nvSpPr>
        <p:spPr>
          <a:xfrm>
            <a:off x="811787" y="4434243"/>
            <a:ext cx="193514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dirty="0"/>
              <a:t>Open </a:t>
            </a:r>
            <a:r>
              <a:rPr lang="de-DE" sz="2500" dirty="0" err="1"/>
              <a:t>WebUI</a:t>
            </a:r>
            <a:endParaRPr lang="en-US" sz="2500" dirty="0"/>
          </a:p>
        </p:txBody>
      </p:sp>
      <p:sp>
        <p:nvSpPr>
          <p:cNvPr id="17" name="Pfeil: Fünfeck 16">
            <a:extLst>
              <a:ext uri="{FF2B5EF4-FFF2-40B4-BE49-F238E27FC236}">
                <a16:creationId xmlns:a16="http://schemas.microsoft.com/office/drawing/2014/main" id="{4D6B26B6-B956-CA96-E2F4-4C0A4BACC865}"/>
              </a:ext>
            </a:extLst>
          </p:cNvPr>
          <p:cNvSpPr/>
          <p:nvPr/>
        </p:nvSpPr>
        <p:spPr>
          <a:xfrm>
            <a:off x="4718617" y="4827469"/>
            <a:ext cx="1786128" cy="298704"/>
          </a:xfrm>
          <a:prstGeom prst="homePlat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GPT-4o-mini</a:t>
            </a:r>
            <a:endParaRPr lang="en-US" dirty="0"/>
          </a:p>
        </p:txBody>
      </p:sp>
      <p:sp>
        <p:nvSpPr>
          <p:cNvPr id="18" name="Pfeil: Fünfeck 17">
            <a:extLst>
              <a:ext uri="{FF2B5EF4-FFF2-40B4-BE49-F238E27FC236}">
                <a16:creationId xmlns:a16="http://schemas.microsoft.com/office/drawing/2014/main" id="{A25801AF-E073-33B1-D0E7-03BC583AA12A}"/>
              </a:ext>
            </a:extLst>
          </p:cNvPr>
          <p:cNvSpPr/>
          <p:nvPr/>
        </p:nvSpPr>
        <p:spPr>
          <a:xfrm>
            <a:off x="4718617" y="5171029"/>
            <a:ext cx="1786128" cy="298704"/>
          </a:xfrm>
          <a:prstGeom prst="homePlat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GPT-4o</a:t>
            </a:r>
            <a:endParaRPr lang="en-US" dirty="0"/>
          </a:p>
        </p:txBody>
      </p:sp>
      <p:sp>
        <p:nvSpPr>
          <p:cNvPr id="19" name="Pfeil: Fünfeck 18">
            <a:extLst>
              <a:ext uri="{FF2B5EF4-FFF2-40B4-BE49-F238E27FC236}">
                <a16:creationId xmlns:a16="http://schemas.microsoft.com/office/drawing/2014/main" id="{49DB9259-4B51-8535-C50C-DE2019318E06}"/>
              </a:ext>
            </a:extLst>
          </p:cNvPr>
          <p:cNvSpPr/>
          <p:nvPr/>
        </p:nvSpPr>
        <p:spPr>
          <a:xfrm>
            <a:off x="4718617" y="5514984"/>
            <a:ext cx="1786128" cy="298704"/>
          </a:xfrm>
          <a:prstGeom prst="homePlat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GPT-4.1</a:t>
            </a:r>
            <a:endParaRPr lang="en-US" dirty="0"/>
          </a:p>
        </p:txBody>
      </p:sp>
      <p:sp>
        <p:nvSpPr>
          <p:cNvPr id="20" name="Pfeil: Fünfeck 19">
            <a:extLst>
              <a:ext uri="{FF2B5EF4-FFF2-40B4-BE49-F238E27FC236}">
                <a16:creationId xmlns:a16="http://schemas.microsoft.com/office/drawing/2014/main" id="{4BF36479-5BDE-D268-48CB-926FA1141E7B}"/>
              </a:ext>
            </a:extLst>
          </p:cNvPr>
          <p:cNvSpPr/>
          <p:nvPr/>
        </p:nvSpPr>
        <p:spPr>
          <a:xfrm>
            <a:off x="4718617" y="5859868"/>
            <a:ext cx="1786128" cy="298704"/>
          </a:xfrm>
          <a:prstGeom prst="homePlat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GPT-5</a:t>
            </a:r>
            <a:endParaRPr lang="en-US" dirty="0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BBD3DC88-1901-7CE5-149C-1E8D133B8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771" y="3016923"/>
            <a:ext cx="1417320" cy="138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0B1FCE3D-598A-895D-1285-1956E1C7DB75}"/>
              </a:ext>
            </a:extLst>
          </p:cNvPr>
          <p:cNvSpPr txBox="1"/>
          <p:nvPr/>
        </p:nvSpPr>
        <p:spPr>
          <a:xfrm>
            <a:off x="9736167" y="4399674"/>
            <a:ext cx="117852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500" dirty="0"/>
              <a:t>GitHub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85212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Breitbild</PresentationFormat>
  <Paragraphs>17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Novedu</vt:lpstr>
      <vt:lpstr>PowerPoint-Präsentation</vt:lpstr>
      <vt:lpstr>Tech-Stack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Wildberger André</dc:creator>
  <cp:lastModifiedBy>Wildberger André</cp:lastModifiedBy>
  <cp:revision>1</cp:revision>
  <dcterms:created xsi:type="dcterms:W3CDTF">2025-12-13T09:54:37Z</dcterms:created>
  <dcterms:modified xsi:type="dcterms:W3CDTF">2025-12-13T10:19:01Z</dcterms:modified>
</cp:coreProperties>
</file>